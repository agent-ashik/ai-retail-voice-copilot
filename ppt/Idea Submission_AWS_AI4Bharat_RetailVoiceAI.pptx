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59" r:id="rId6"/>
    <p:sldId id="270" r:id="rId7"/>
    <p:sldId id="260" r:id="rId8"/>
    <p:sldId id="271" r:id="rId9"/>
    <p:sldId id="272" r:id="rId10"/>
    <p:sldId id="261" r:id="rId11"/>
    <p:sldId id="262" r:id="rId12"/>
    <p:sldId id="263" r:id="rId13"/>
    <p:sldId id="264" r:id="rId14"/>
    <p:sldId id="265" r:id="rId15"/>
    <p:sldId id="273" r:id="rId16"/>
    <p:sldId id="266" r:id="rId17"/>
  </p:sldIdLst>
  <p:sldSz cx="9144000" cy="5143500" type="screen16x9"/>
  <p:notesSz cx="6858000" cy="9144000"/>
  <p:embeddedFontLst>
    <p:embeddedFont>
      <p:font typeface="Manrope" pitchFamily="2" charset="0"/>
      <p:regular r:id="rId19"/>
      <p:bold r:id="rId20"/>
    </p:embeddedFont>
    <p:embeddedFont>
      <p:font typeface="Manrope SemiBold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94"/>
  </p:normalViewPr>
  <p:slideViewPr>
    <p:cSldViewPr snapToGrid="0">
      <p:cViewPr varScale="1">
        <p:scale>
          <a:sx n="139" d="100"/>
          <a:sy n="139" d="100"/>
        </p:scale>
        <p:origin x="176" y="5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F899AC4-D74F-A89E-D56D-6354F17B4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>
            <a:extLst>
              <a:ext uri="{FF2B5EF4-FFF2-40B4-BE49-F238E27FC236}">
                <a16:creationId xmlns:a16="http://schemas.microsoft.com/office/drawing/2014/main" id="{0820976E-8409-BDFF-A3C8-0C4152AE01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>
            <a:extLst>
              <a:ext uri="{FF2B5EF4-FFF2-40B4-BE49-F238E27FC236}">
                <a16:creationId xmlns:a16="http://schemas.microsoft.com/office/drawing/2014/main" id="{5D914EE2-9F04-5C41-01E4-E25FE2407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326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008FDC63-EDD9-5502-FC30-122352029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>
            <a:extLst>
              <a:ext uri="{FF2B5EF4-FFF2-40B4-BE49-F238E27FC236}">
                <a16:creationId xmlns:a16="http://schemas.microsoft.com/office/drawing/2014/main" id="{35A95C27-914A-0C4A-3AED-C0F19ECEA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>
            <a:extLst>
              <a:ext uri="{FF2B5EF4-FFF2-40B4-BE49-F238E27FC236}">
                <a16:creationId xmlns:a16="http://schemas.microsoft.com/office/drawing/2014/main" id="{115DF767-531D-C54C-B29D-9E42F7714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3160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C35B3AB4-AE6B-F105-B449-6E2EB6A7A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>
            <a:extLst>
              <a:ext uri="{FF2B5EF4-FFF2-40B4-BE49-F238E27FC236}">
                <a16:creationId xmlns:a16="http://schemas.microsoft.com/office/drawing/2014/main" id="{69C6191B-297A-6348-4E8D-30CA8924C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>
            <a:extLst>
              <a:ext uri="{FF2B5EF4-FFF2-40B4-BE49-F238E27FC236}">
                <a16:creationId xmlns:a16="http://schemas.microsoft.com/office/drawing/2014/main" id="{672278EA-C16E-6DF5-DD00-B44CB9061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0280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68395B06-30CF-E3E3-0B8A-6B8B9803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>
            <a:extLst>
              <a:ext uri="{FF2B5EF4-FFF2-40B4-BE49-F238E27FC236}">
                <a16:creationId xmlns:a16="http://schemas.microsoft.com/office/drawing/2014/main" id="{96B99264-B64A-7C3A-45B0-582C00AF00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>
            <a:extLst>
              <a:ext uri="{FF2B5EF4-FFF2-40B4-BE49-F238E27FC236}">
                <a16:creationId xmlns:a16="http://schemas.microsoft.com/office/drawing/2014/main" id="{4698089D-C01C-C28D-9997-69E7FB759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954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8DFF74E-BCAD-58C1-00D1-A322A928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>
            <a:extLst>
              <a:ext uri="{FF2B5EF4-FFF2-40B4-BE49-F238E27FC236}">
                <a16:creationId xmlns:a16="http://schemas.microsoft.com/office/drawing/2014/main" id="{3C65886F-8D99-74CE-EFDA-F0904415F2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>
            <a:extLst>
              <a:ext uri="{FF2B5EF4-FFF2-40B4-BE49-F238E27FC236}">
                <a16:creationId xmlns:a16="http://schemas.microsoft.com/office/drawing/2014/main" id="{C5D09967-0BCE-AFCC-F5B0-CE088CBB3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909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agent-ashik/ai-retail-voice-copilot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8783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26725"/>
            <a:ext cx="8520600" cy="374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200" b="1" dirty="0">
                <a:solidFill>
                  <a:srgbClr val="434343"/>
                </a:solidFill>
                <a:latin typeface="Manrope"/>
                <a:sym typeface="Manrope SemiBold"/>
              </a:rPr>
              <a:t>Team Name 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Voice Stock AI</a:t>
            </a:r>
            <a:r>
              <a:rPr lang="en-GB" sz="1200" dirty="0">
                <a:solidFill>
                  <a:srgbClr val="434343"/>
                </a:solidFill>
                <a:latin typeface="Manrope"/>
                <a:sym typeface="Manrope SemiBold"/>
              </a:rPr>
              <a:t> </a:t>
            </a:r>
            <a:endParaRPr sz="1200" dirty="0">
              <a:solidFill>
                <a:srgbClr val="434343"/>
              </a:solidFill>
              <a:latin typeface="Manrope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031311"/>
            <a:ext cx="8520600" cy="122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en-GB" sz="1200" b="1" dirty="0">
                <a:solidFill>
                  <a:srgbClr val="434343"/>
                </a:solidFill>
                <a:latin typeface="Manrope"/>
                <a:sym typeface="Manrope SemiBold"/>
              </a:rPr>
              <a:t>Problem Statement 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Retail store managers struggle with inventory management due to:</a:t>
            </a:r>
          </a:p>
          <a:p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Complex data analysis requirements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Language barriers (need regional language support)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Time-consuming manual processes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Delayed decision-making leading to stockouts and overstocking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5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75" y="3720138"/>
            <a:ext cx="8520600" cy="374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434343"/>
                </a:solidFill>
                <a:latin typeface="Manrope"/>
                <a:sym typeface="Manrope SemiBold"/>
              </a:rPr>
              <a:t>Team Leader Name : </a:t>
            </a:r>
            <a:r>
              <a:rPr lang="en-GB" sz="1200" dirty="0">
                <a:solidFill>
                  <a:srgbClr val="434343"/>
                </a:solidFill>
                <a:latin typeface="Manrope"/>
                <a:sym typeface="Manrope SemiBold"/>
              </a:rPr>
              <a:t>Mohamed Ashik</a:t>
            </a:r>
            <a:endParaRPr sz="1200" dirty="0">
              <a:solidFill>
                <a:srgbClr val="434343"/>
              </a:solidFill>
              <a:latin typeface="Manrope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699" y="863549"/>
            <a:ext cx="8434735" cy="39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AI Retail Voice Operations Copilot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is a multilingual voice-enabled assistant that empowers store managers to make data-driven inventory decisions through natural voice interactions in regional languages.</a:t>
            </a:r>
          </a:p>
          <a:p>
            <a:pPr algn="just">
              <a:lnSpc>
                <a:spcPct val="11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 algn="just">
              <a:lnSpc>
                <a:spcPct val="11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Key Highlights:</a:t>
            </a:r>
          </a:p>
          <a:p>
            <a:pPr marL="285750" indent="-285750"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Voice-first interface supporting English, Hindi, Tamil, and Bengali</a:t>
            </a:r>
          </a:p>
          <a:p>
            <a:pPr marL="285750" indent="-285750"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Real-time inventory insights through natural language queries</a:t>
            </a:r>
          </a:p>
          <a:p>
            <a:pPr marL="285750" indent="-285750"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AI-powered demand forecasting and stockout prediction</a:t>
            </a:r>
          </a:p>
          <a:p>
            <a:pPr marL="285750" indent="-285750"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Intelligent replenishment suggestions with cost optimization</a:t>
            </a:r>
          </a:p>
          <a:p>
            <a:pPr marL="285750" indent="-285750"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Anomaly detection for inventory irregularities</a:t>
            </a:r>
          </a:p>
          <a:p>
            <a:pPr algn="just">
              <a:lnSpc>
                <a:spcPct val="11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 algn="just">
              <a:lnSpc>
                <a:spcPct val="11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Target Users: </a:t>
            </a:r>
          </a:p>
          <a:p>
            <a:pPr algn="just">
              <a:lnSpc>
                <a:spcPct val="11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Store managers and regional managers in retail chains across India</a:t>
            </a:r>
          </a:p>
          <a:p>
            <a:pPr algn="just">
              <a:lnSpc>
                <a:spcPct val="11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 algn="just">
              <a:lnSpc>
                <a:spcPct val="11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Impact: </a:t>
            </a:r>
          </a:p>
          <a:p>
            <a:pPr marL="285750" indent="-285750"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Reduces stockouts by 30%, </a:t>
            </a:r>
          </a:p>
          <a:p>
            <a:pPr marL="285750" indent="-285750"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Decreases excess inventory by 25%, and </a:t>
            </a:r>
          </a:p>
          <a:p>
            <a:pPr marL="285750" indent="-285750"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Saves 2+ hours daily per store 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699" y="863549"/>
            <a:ext cx="8498345" cy="38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N" sz="1200" b="1" dirty="0">
                <a:solidFill>
                  <a:srgbClr val="434343"/>
                </a:solidFill>
                <a:latin typeface="Manrope"/>
              </a:rPr>
              <a:t>How is it different from existing solutions?</a:t>
            </a:r>
          </a:p>
          <a:p>
            <a:pPr algn="just"/>
            <a:endParaRPr lang="en-IN" sz="1200" b="1" dirty="0">
              <a:solidFill>
                <a:srgbClr val="434343"/>
              </a:solidFill>
              <a:latin typeface="Manrope"/>
            </a:endParaRPr>
          </a:p>
          <a:p>
            <a:pPr algn="just"/>
            <a:r>
              <a:rPr lang="en-IN" sz="1200" b="1" dirty="0">
                <a:solidFill>
                  <a:srgbClr val="434343"/>
                </a:solidFill>
                <a:latin typeface="Manrope"/>
              </a:rPr>
              <a:t>Existing Solutions: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Dashboard-based tools requiring technical expertise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English-only interfaces excluding regional language speakers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Reactive alerts without predictive intelligence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Complex navigation and steep learning curves</a:t>
            </a:r>
          </a:p>
          <a:p>
            <a:pPr algn="just"/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 algn="just"/>
            <a:r>
              <a:rPr lang="en-IN" sz="1200" b="1" dirty="0">
                <a:solidFill>
                  <a:srgbClr val="434343"/>
                </a:solidFill>
                <a:latin typeface="Manrope"/>
              </a:rPr>
              <a:t>Our Solution: </a:t>
            </a:r>
          </a:p>
          <a:p>
            <a:pPr algn="just"/>
            <a:r>
              <a:rPr lang="en-IN" sz="1200" dirty="0">
                <a:solidFill>
                  <a:srgbClr val="434343"/>
                </a:solidFill>
                <a:latin typeface="Manrope"/>
              </a:rPr>
              <a:t>✓ Voice-first, hands-free operation for busy store managers </a:t>
            </a:r>
          </a:p>
          <a:p>
            <a:pPr algn="just"/>
            <a:r>
              <a:rPr lang="en-IN" sz="1200" dirty="0">
                <a:solidFill>
                  <a:srgbClr val="434343"/>
                </a:solidFill>
                <a:latin typeface="Manrope"/>
              </a:rPr>
              <a:t>✓ Native support for 4+ Indian languages with automatic detection </a:t>
            </a:r>
          </a:p>
          <a:p>
            <a:pPr algn="just"/>
            <a:r>
              <a:rPr lang="en-IN" sz="1200" dirty="0">
                <a:solidFill>
                  <a:srgbClr val="434343"/>
                </a:solidFill>
                <a:latin typeface="Manrope"/>
              </a:rPr>
              <a:t>✓ Proactive AI predictions (stockouts, overstock, anomalies) </a:t>
            </a:r>
          </a:p>
          <a:p>
            <a:pPr algn="just"/>
            <a:r>
              <a:rPr lang="en-IN" sz="1200" dirty="0">
                <a:solidFill>
                  <a:srgbClr val="434343"/>
                </a:solidFill>
                <a:latin typeface="Manrope"/>
              </a:rPr>
              <a:t>✓ Natural conversation - no training required </a:t>
            </a:r>
          </a:p>
          <a:p>
            <a:pPr algn="just"/>
            <a:r>
              <a:rPr lang="en-IN" sz="1200" dirty="0">
                <a:solidFill>
                  <a:srgbClr val="434343"/>
                </a:solidFill>
                <a:latin typeface="Manrope"/>
              </a:rPr>
              <a:t>✓ Property-based testing ensures 31 correctness guarantees</a:t>
            </a:r>
          </a:p>
          <a:p>
            <a:pPr algn="just"/>
            <a:endParaRPr lang="en-IN" sz="1200" dirty="0">
              <a:solidFill>
                <a:srgbClr val="202729"/>
              </a:solidFill>
              <a:latin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7040CB4-E8A5-3949-CD2A-51807522F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>
            <a:extLst>
              <a:ext uri="{FF2B5EF4-FFF2-40B4-BE49-F238E27FC236}">
                <a16:creationId xmlns:a16="http://schemas.microsoft.com/office/drawing/2014/main" id="{F032AB0B-FA87-59B5-B9F9-BBDCDF86D7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B0AE352C-D603-6C71-4B62-74E0ACE1FC80}"/>
              </a:ext>
            </a:extLst>
          </p:cNvPr>
          <p:cNvSpPr txBox="1"/>
          <p:nvPr/>
        </p:nvSpPr>
        <p:spPr>
          <a:xfrm>
            <a:off x="311699" y="863549"/>
            <a:ext cx="8498345" cy="392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200" b="1" dirty="0">
                <a:solidFill>
                  <a:srgbClr val="434343"/>
                </a:solidFill>
                <a:latin typeface="Manrope"/>
              </a:rPr>
              <a:t>How does it solve the problem?</a:t>
            </a:r>
          </a:p>
          <a:p>
            <a:pPr algn="just"/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 marL="285750" indent="-285750" algn="just">
              <a:buFont typeface="Wingdings" pitchFamily="2" charset="2"/>
              <a:buChar char="§"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Accessibility: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Voice interface in regional languages removes barriers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Speed: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Get insights in &lt;5 seconds vs 10+ minutes with dashboards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Intelligence: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ML forecasting predicts issues 7-30 days ahead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Actionability: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Provides specific replenishment orders, not just alerts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Reliability: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Formal correctness properties ensure accurate results</a:t>
            </a:r>
          </a:p>
          <a:p>
            <a:pPr algn="just"/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r>
              <a:rPr lang="en-IN" sz="1200" b="1" dirty="0">
                <a:solidFill>
                  <a:srgbClr val="434343"/>
                </a:solidFill>
                <a:latin typeface="Manrope"/>
              </a:rPr>
              <a:t>USP (Unique Selling Proposition)</a:t>
            </a:r>
          </a:p>
          <a:p>
            <a:pPr algn="just"/>
            <a:endParaRPr lang="en-IN" sz="1200" b="1" dirty="0">
              <a:solidFill>
                <a:srgbClr val="434343"/>
              </a:solidFill>
              <a:latin typeface="Manrope"/>
            </a:endParaRPr>
          </a:p>
          <a:p>
            <a:pPr algn="ctr"/>
            <a:r>
              <a:rPr lang="en-IN" sz="1200" b="1" dirty="0">
                <a:solidFill>
                  <a:srgbClr val="434343"/>
                </a:solidFill>
                <a:latin typeface="Manrope"/>
              </a:rPr>
              <a:t>"The only voice-enabled inventory copilot built for India's multilingual retail workforce with formally verified correctness”</a:t>
            </a:r>
          </a:p>
          <a:p>
            <a:pPr algn="just"/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 marL="171450" indent="-171450" algn="just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First-of-its-kind multilingual voice interface for retail operations</a:t>
            </a:r>
          </a:p>
          <a:p>
            <a:pPr marL="171450" indent="-171450" algn="just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31 mathematically proven correctness properties via property-based testing</a:t>
            </a:r>
          </a:p>
          <a:p>
            <a:pPr marL="171450" indent="-171450" algn="just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Hands-free operation perfect for store floor environments</a:t>
            </a:r>
          </a:p>
          <a:p>
            <a:pPr marL="171450" indent="-171450" algn="just"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AWS-powered scalability for enterprise retail chains</a:t>
            </a:r>
          </a:p>
        </p:txBody>
      </p:sp>
    </p:spTree>
    <p:extLst>
      <p:ext uri="{BB962C8B-B14F-4D97-AF65-F5344CB8AC3E}">
        <p14:creationId xmlns:p14="http://schemas.microsoft.com/office/powerpoint/2010/main" val="64902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210313" y="1014252"/>
            <a:ext cx="8933688" cy="4129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1. Voice Query Processing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Speech-to-text with 90%+ accuracy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Automatic language detection (</a:t>
            </a:r>
            <a:r>
              <a:rPr lang="en-IN" sz="1200" dirty="0" err="1">
                <a:solidFill>
                  <a:srgbClr val="434343"/>
                </a:solidFill>
                <a:latin typeface="Manrope"/>
              </a:rPr>
              <a:t>en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, hi, ta, bn)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Low-confidence retry mechanism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Natural language understanding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2. Stockout Prediction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7-30 day forecast horizon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Urgency-based prioritization (HIGH/MEDIUM/LOW)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Seasonal trend analysis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80%+ prediction accuracy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3. Overstock Detection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Configurable threshold (default 150% of max)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Excess quantity and cost calculation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Days of supply estimation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Severity-based ranking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4. Intelligent Replenishment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Economic Order Quantity (EOQ) optimization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Budget and MOQ constraint handling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Supplier lead time consideration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Prioritized order suggestions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5. Anomaly Detection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Real-time inventory pattern analysis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4 anomaly types: spike, drop, drift, missing data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Statistical deviation detection (&gt;2 std </a:t>
            </a:r>
            <a:r>
              <a:rPr lang="en-IN" sz="1200" dirty="0" err="1">
                <a:solidFill>
                  <a:srgbClr val="434343"/>
                </a:solidFill>
                <a:latin typeface="Manrope"/>
              </a:rPr>
              <a:t>devs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High-value SKU prioritization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6. Multi-Store Support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Cross-store inventory visibility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Role-based access control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Aggregated regional insights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Store-specific defaults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EE802-E46A-78D6-10B9-C7E9FD141E1E}"/>
              </a:ext>
            </a:extLst>
          </p:cNvPr>
          <p:cNvSpPr txBox="1"/>
          <p:nvPr/>
        </p:nvSpPr>
        <p:spPr>
          <a:xfrm>
            <a:off x="210313" y="610464"/>
            <a:ext cx="4645152" cy="333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400" b="1" dirty="0">
                <a:solidFill>
                  <a:srgbClr val="434343"/>
                </a:solidFill>
                <a:latin typeface="Manrope"/>
              </a:rPr>
              <a:t>Core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003E0FB3-BD8C-FF98-17A9-A07F7A15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>
            <a:extLst>
              <a:ext uri="{FF2B5EF4-FFF2-40B4-BE49-F238E27FC236}">
                <a16:creationId xmlns:a16="http://schemas.microsoft.com/office/drawing/2014/main" id="{005254F8-30F0-2749-30FD-38F00EF9D5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49AD9492-D581-1500-3B88-1685D7563614}"/>
              </a:ext>
            </a:extLst>
          </p:cNvPr>
          <p:cNvSpPr txBox="1"/>
          <p:nvPr/>
        </p:nvSpPr>
        <p:spPr>
          <a:xfrm>
            <a:off x="164593" y="1029425"/>
            <a:ext cx="7531800" cy="1997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7. Voice Response Generation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Text-to-speech in query language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Natural number formatting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Top-5 item summarization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Alternative delivery for long responses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774F93-B9E4-8A1A-7447-316A12997ACB}"/>
              </a:ext>
            </a:extLst>
          </p:cNvPr>
          <p:cNvSpPr txBox="1"/>
          <p:nvPr/>
        </p:nvSpPr>
        <p:spPr>
          <a:xfrm>
            <a:off x="164593" y="595288"/>
            <a:ext cx="4645152" cy="333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400" b="1" dirty="0">
                <a:solidFill>
                  <a:srgbClr val="434343"/>
                </a:solidFill>
                <a:latin typeface="Manrope"/>
              </a:rPr>
              <a:t>Core Features</a:t>
            </a:r>
          </a:p>
        </p:txBody>
      </p:sp>
    </p:spTree>
    <p:extLst>
      <p:ext uri="{BB962C8B-B14F-4D97-AF65-F5344CB8AC3E}">
        <p14:creationId xmlns:p14="http://schemas.microsoft.com/office/powerpoint/2010/main" val="1047454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151167" y="760431"/>
            <a:ext cx="2709796" cy="37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High Level Architecture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934AB2-821B-5899-6920-305321C52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71" y="650703"/>
            <a:ext cx="7250610" cy="43830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7BB0F167-71B6-0C6B-4B5D-B6ABA6D16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>
            <a:extLst>
              <a:ext uri="{FF2B5EF4-FFF2-40B4-BE49-F238E27FC236}">
                <a16:creationId xmlns:a16="http://schemas.microsoft.com/office/drawing/2014/main" id="{DCFAE131-336C-A5E7-EE48-7F3390C381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D078CF35-DDA7-BD6C-AD4B-764821DC63E2}"/>
              </a:ext>
            </a:extLst>
          </p:cNvPr>
          <p:cNvSpPr txBox="1"/>
          <p:nvPr/>
        </p:nvSpPr>
        <p:spPr>
          <a:xfrm>
            <a:off x="126924" y="503325"/>
            <a:ext cx="2872308" cy="35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Component Interaction Flow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A63B06C-D2DF-F93C-71A7-F4B6EE8B1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34" y="860113"/>
            <a:ext cx="7864932" cy="426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D6F12D0-DB57-7E7C-AC0E-4990C0B1D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>
            <a:extLst>
              <a:ext uri="{FF2B5EF4-FFF2-40B4-BE49-F238E27FC236}">
                <a16:creationId xmlns:a16="http://schemas.microsoft.com/office/drawing/2014/main" id="{8C968214-F4AF-8C89-C4C1-31D2080C11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081FFA34-9431-208A-9CBE-A93871970E78}"/>
              </a:ext>
            </a:extLst>
          </p:cNvPr>
          <p:cNvSpPr txBox="1"/>
          <p:nvPr/>
        </p:nvSpPr>
        <p:spPr>
          <a:xfrm>
            <a:off x="126924" y="622197"/>
            <a:ext cx="2872308" cy="35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6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 descr="A diagram of a customer service&#10;&#10;AI-generated content may be incorrect.">
            <a:extLst>
              <a:ext uri="{FF2B5EF4-FFF2-40B4-BE49-F238E27FC236}">
                <a16:creationId xmlns:a16="http://schemas.microsoft.com/office/drawing/2014/main" id="{80E05980-4830-48FF-0EB4-4F0D2F5F4C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90" b="7862"/>
          <a:stretch>
            <a:fillRect/>
          </a:stretch>
        </p:blipFill>
        <p:spPr>
          <a:xfrm>
            <a:off x="126924" y="978985"/>
            <a:ext cx="3429000" cy="4023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E5CD74-E7E8-711D-2914-FE5874184555}"/>
              </a:ext>
            </a:extLst>
          </p:cNvPr>
          <p:cNvSpPr txBox="1"/>
          <p:nvPr/>
        </p:nvSpPr>
        <p:spPr>
          <a:xfrm>
            <a:off x="3950208" y="978985"/>
            <a:ext cx="4818888" cy="2832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Use Case Example:</a:t>
            </a:r>
          </a:p>
          <a:p>
            <a:pPr>
              <a:lnSpc>
                <a:spcPct val="150000"/>
              </a:lnSpc>
              <a:buNone/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Manager asks: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"</a:t>
            </a:r>
            <a:r>
              <a:rPr lang="hi-IN" sz="1200" dirty="0">
                <a:solidFill>
                  <a:srgbClr val="434343"/>
                </a:solidFill>
                <a:latin typeface="Manrope"/>
              </a:rPr>
              <a:t>कौन से आइटम अगले हफ्ते खत्म हो जाएंगे?" (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Which items will run out next week?)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System transcribes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and detects Hindi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Extracts intent: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STOCKOUT_PREDICTION, </a:t>
            </a:r>
            <a:r>
              <a:rPr lang="en-IN" sz="1200" dirty="0" err="1">
                <a:solidFill>
                  <a:srgbClr val="434343"/>
                </a:solidFill>
                <a:latin typeface="Manrope"/>
              </a:rPr>
              <a:t>timeWindow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: 7 days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Forecasting Engine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 predicts 5 SKUs will stock out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Response: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"5 </a:t>
            </a:r>
            <a:r>
              <a:rPr lang="hi-IN" sz="1200" dirty="0">
                <a:solidFill>
                  <a:srgbClr val="434343"/>
                </a:solidFill>
                <a:latin typeface="Manrope"/>
              </a:rPr>
              <a:t>आइटम खत्म होंगे। सबसे पहले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SKU-1234 3 </a:t>
            </a:r>
            <a:r>
              <a:rPr lang="hi-IN" sz="1200" dirty="0">
                <a:solidFill>
                  <a:srgbClr val="434343"/>
                </a:solidFill>
                <a:latin typeface="Manrope"/>
              </a:rPr>
              <a:t>दिन में..." (5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items will run out. First SKU-1234 in 3 days...)</a:t>
            </a:r>
          </a:p>
        </p:txBody>
      </p:sp>
    </p:spTree>
    <p:extLst>
      <p:ext uri="{BB962C8B-B14F-4D97-AF65-F5344CB8AC3E}">
        <p14:creationId xmlns:p14="http://schemas.microsoft.com/office/powerpoint/2010/main" val="19274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101388" y="662940"/>
            <a:ext cx="2522940" cy="53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Mobile App Interface Mockup</a:t>
            </a:r>
            <a:endParaRPr sz="12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DBA5B4-E296-5A1B-B8D6-38AB6385B4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50" t="3377" r="6566" b="5067"/>
          <a:stretch>
            <a:fillRect/>
          </a:stretch>
        </p:blipFill>
        <p:spPr>
          <a:xfrm>
            <a:off x="2453732" y="598932"/>
            <a:ext cx="2992952" cy="43571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725970-1E96-7817-AA0B-FCEDE7054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696" y="618097"/>
            <a:ext cx="2891967" cy="43379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147108" y="625806"/>
            <a:ext cx="2952708" cy="64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</a:t>
            </a:r>
            <a:endParaRPr sz="105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6E8CCB-1748-0769-9E4A-422E6B1954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22" b="12167"/>
          <a:stretch>
            <a:fillRect/>
          </a:stretch>
        </p:blipFill>
        <p:spPr>
          <a:xfrm>
            <a:off x="1929385" y="625806"/>
            <a:ext cx="3429000" cy="44445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71DB95-ACB3-118C-5213-7DBCB967A6CC}"/>
              </a:ext>
            </a:extLst>
          </p:cNvPr>
          <p:cNvSpPr txBox="1"/>
          <p:nvPr/>
        </p:nvSpPr>
        <p:spPr>
          <a:xfrm>
            <a:off x="5532130" y="625806"/>
            <a:ext cx="3063230" cy="2833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Key AWS Services:</a:t>
            </a:r>
          </a:p>
          <a:p>
            <a:pPr>
              <a:lnSpc>
                <a:spcPct val="150000"/>
              </a:lnSpc>
              <a:buNone/>
            </a:pPr>
            <a:endParaRPr lang="en-IN" sz="1200" b="1" dirty="0">
              <a:solidFill>
                <a:srgbClr val="434343"/>
              </a:solidFill>
              <a:latin typeface="Manrope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 Transcribe (Speech Recognition)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 Polly (Speech Synthesis)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 Lex (Intent Recognition)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Amazon RDS (PostgreSQL)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Amazon Elastic Cache (Redis)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Amazon S3 (Storage)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 Lambda (Background Jobs)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Amazon CloudWatch (Monitoring)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183684" y="880111"/>
            <a:ext cx="10075884" cy="439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100" b="1" dirty="0">
                <a:solidFill>
                  <a:srgbClr val="434343"/>
                </a:solidFill>
                <a:latin typeface="Manrope"/>
              </a:rPr>
              <a:t>Cloud Platform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AWS (Primary cloud provider) </a:t>
            </a:r>
          </a:p>
          <a:p>
            <a:pPr marL="171450" lvl="1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Transcribe, Polly, Lex, RDS, </a:t>
            </a:r>
            <a:r>
              <a:rPr lang="en-IN" sz="1100" dirty="0" err="1">
                <a:solidFill>
                  <a:srgbClr val="434343"/>
                </a:solidFill>
                <a:latin typeface="Manrope"/>
              </a:rPr>
              <a:t>ElastiCache</a:t>
            </a:r>
            <a:r>
              <a:rPr lang="en-IN" sz="1100" dirty="0">
                <a:solidFill>
                  <a:srgbClr val="434343"/>
                </a:solidFill>
                <a:latin typeface="Manrope"/>
              </a:rPr>
              <a:t>, S3, Lambda, CloudWatch</a:t>
            </a:r>
          </a:p>
          <a:p>
            <a:pPr>
              <a:lnSpc>
                <a:spcPct val="120000"/>
              </a:lnSpc>
            </a:pPr>
            <a:endParaRPr lang="en-IN" sz="11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100" b="1" dirty="0">
                <a:solidFill>
                  <a:srgbClr val="434343"/>
                </a:solidFill>
                <a:latin typeface="Manrope"/>
              </a:rPr>
              <a:t>Backend Technologies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Python 3.9+ (Primary language)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 err="1">
                <a:solidFill>
                  <a:srgbClr val="434343"/>
                </a:solidFill>
                <a:latin typeface="Manrope"/>
              </a:rPr>
              <a:t>FastAPI</a:t>
            </a:r>
            <a:r>
              <a:rPr lang="en-IN" sz="1100" dirty="0">
                <a:solidFill>
                  <a:srgbClr val="434343"/>
                </a:solidFill>
                <a:latin typeface="Manrope"/>
              </a:rPr>
              <a:t> (REST API framework)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 err="1">
                <a:solidFill>
                  <a:srgbClr val="434343"/>
                </a:solidFill>
                <a:latin typeface="Manrope"/>
              </a:rPr>
              <a:t>SQLAlchemy</a:t>
            </a:r>
            <a:r>
              <a:rPr lang="en-IN" sz="1100" dirty="0">
                <a:solidFill>
                  <a:srgbClr val="434343"/>
                </a:solidFill>
                <a:latin typeface="Manrope"/>
              </a:rPr>
              <a:t> (ORM for database)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boto3 (AWS SDK)</a:t>
            </a:r>
          </a:p>
          <a:p>
            <a:pPr>
              <a:lnSpc>
                <a:spcPct val="120000"/>
              </a:lnSpc>
            </a:pPr>
            <a:endParaRPr lang="en-IN" sz="11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100" b="1" dirty="0">
                <a:solidFill>
                  <a:srgbClr val="434343"/>
                </a:solidFill>
                <a:latin typeface="Manrope"/>
              </a:rPr>
              <a:t>Machine Learning &amp; Analytics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Facebook Prophet (Time-series forecasting)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 err="1">
                <a:solidFill>
                  <a:srgbClr val="434343"/>
                </a:solidFill>
                <a:latin typeface="Manrope"/>
              </a:rPr>
              <a:t>statsmodels</a:t>
            </a:r>
            <a:r>
              <a:rPr lang="en-IN" sz="1100" dirty="0">
                <a:solidFill>
                  <a:srgbClr val="434343"/>
                </a:solidFill>
                <a:latin typeface="Manrope"/>
              </a:rPr>
              <a:t> (ARIMA models)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NumPy/Pandas (Data processing)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scikit-learn (Anomaly detection)</a:t>
            </a:r>
          </a:p>
          <a:p>
            <a:pPr>
              <a:lnSpc>
                <a:spcPct val="120000"/>
              </a:lnSpc>
            </a:pPr>
            <a:endParaRPr lang="en-IN" sz="11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100" b="1" dirty="0">
                <a:solidFill>
                  <a:srgbClr val="434343"/>
                </a:solidFill>
                <a:latin typeface="Manrope"/>
              </a:rPr>
              <a:t>Testing &amp; Quality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 err="1">
                <a:solidFill>
                  <a:srgbClr val="434343"/>
                </a:solidFill>
                <a:latin typeface="Manrope"/>
              </a:rPr>
              <a:t>pytest</a:t>
            </a:r>
            <a:r>
              <a:rPr lang="en-IN" sz="1100" dirty="0">
                <a:solidFill>
                  <a:srgbClr val="434343"/>
                </a:solidFill>
                <a:latin typeface="Manrope"/>
              </a:rPr>
              <a:t> (Unit testing)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hypothesis (Property-based testing - 31 properties)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fast-check (Additional PBT support)</a:t>
            </a:r>
          </a:p>
          <a:p>
            <a:pPr>
              <a:lnSpc>
                <a:spcPct val="120000"/>
              </a:lnSpc>
            </a:pPr>
            <a:r>
              <a:rPr lang="en-IN" sz="1100" b="1" dirty="0">
                <a:solidFill>
                  <a:srgbClr val="434343"/>
                </a:solidFill>
                <a:latin typeface="Manrope"/>
              </a:rPr>
              <a:t>Database &amp; Caching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PostgreSQL (Primary database)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Redis (Caching layer)</a:t>
            </a:r>
          </a:p>
          <a:p>
            <a:pPr>
              <a:lnSpc>
                <a:spcPct val="120000"/>
              </a:lnSpc>
            </a:pPr>
            <a:endParaRPr lang="en-IN" sz="11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100" b="1" dirty="0">
                <a:solidFill>
                  <a:srgbClr val="434343"/>
                </a:solidFill>
                <a:latin typeface="Manrope"/>
              </a:rPr>
              <a:t>DevOps &amp; Deployment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Docker (Containerization)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docker-compose (Local development)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GitHub Actions (CI/CD)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Prometheus (Metrics)</a:t>
            </a:r>
          </a:p>
          <a:p>
            <a:pPr>
              <a:lnSpc>
                <a:spcPct val="120000"/>
              </a:lnSpc>
            </a:pPr>
            <a:endParaRPr lang="en-IN" sz="11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100" b="1" dirty="0">
                <a:solidFill>
                  <a:srgbClr val="434343"/>
                </a:solidFill>
                <a:latin typeface="Manrope"/>
              </a:rPr>
              <a:t>NLU &amp; Voice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AWS Lex (Intent recognition)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AWS Transcribe (Speech-to-text)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AWS Polly (Text-to-speech)</a:t>
            </a:r>
          </a:p>
          <a:p>
            <a:pPr>
              <a:lnSpc>
                <a:spcPct val="120000"/>
              </a:lnSpc>
            </a:pPr>
            <a:endParaRPr lang="en-IN" sz="11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100" b="1" dirty="0">
                <a:solidFill>
                  <a:srgbClr val="434343"/>
                </a:solidFill>
                <a:latin typeface="Manrope"/>
              </a:rPr>
              <a:t>Additional Libraries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 err="1">
                <a:solidFill>
                  <a:srgbClr val="434343"/>
                </a:solidFill>
                <a:latin typeface="Manrope"/>
              </a:rPr>
              <a:t>structlog</a:t>
            </a:r>
            <a:r>
              <a:rPr lang="en-IN" sz="1100" dirty="0">
                <a:solidFill>
                  <a:srgbClr val="434343"/>
                </a:solidFill>
                <a:latin typeface="Manrope"/>
              </a:rPr>
              <a:t> (Structured logging)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>
                <a:solidFill>
                  <a:srgbClr val="434343"/>
                </a:solidFill>
                <a:latin typeface="Manrope"/>
              </a:rPr>
              <a:t>python-</a:t>
            </a:r>
            <a:r>
              <a:rPr lang="en-IN" sz="1100" dirty="0" err="1">
                <a:solidFill>
                  <a:srgbClr val="434343"/>
                </a:solidFill>
                <a:latin typeface="Manrope"/>
              </a:rPr>
              <a:t>dotenv</a:t>
            </a:r>
            <a:r>
              <a:rPr lang="en-IN" sz="1100" dirty="0">
                <a:solidFill>
                  <a:srgbClr val="434343"/>
                </a:solidFill>
                <a:latin typeface="Manrope"/>
              </a:rPr>
              <a:t> (Configuration)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 err="1">
                <a:solidFill>
                  <a:srgbClr val="434343"/>
                </a:solidFill>
                <a:latin typeface="Manrope"/>
              </a:rPr>
              <a:t>APScheduler</a:t>
            </a:r>
            <a:r>
              <a:rPr lang="en-IN" sz="1100" dirty="0">
                <a:solidFill>
                  <a:srgbClr val="434343"/>
                </a:solidFill>
                <a:latin typeface="Manrope"/>
              </a:rPr>
              <a:t> (Background jobs)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100" dirty="0" err="1">
                <a:solidFill>
                  <a:srgbClr val="434343"/>
                </a:solidFill>
                <a:latin typeface="Manrope"/>
              </a:rPr>
              <a:t>PyJWT</a:t>
            </a:r>
            <a:r>
              <a:rPr lang="en-IN" sz="1100" dirty="0">
                <a:solidFill>
                  <a:srgbClr val="434343"/>
                </a:solidFill>
                <a:latin typeface="Manrope"/>
              </a:rPr>
              <a:t> (Authentication)</a:t>
            </a:r>
          </a:p>
        </p:txBody>
      </p:sp>
      <p:sp>
        <p:nvSpPr>
          <p:cNvPr id="2" name="Google Shape;93;p19">
            <a:extLst>
              <a:ext uri="{FF2B5EF4-FFF2-40B4-BE49-F238E27FC236}">
                <a16:creationId xmlns:a16="http://schemas.microsoft.com/office/drawing/2014/main" id="{BF416769-D83F-00B1-5A23-DF6CCA2A6F0C}"/>
              </a:ext>
            </a:extLst>
          </p:cNvPr>
          <p:cNvSpPr txBox="1"/>
          <p:nvPr/>
        </p:nvSpPr>
        <p:spPr>
          <a:xfrm>
            <a:off x="174540" y="557506"/>
            <a:ext cx="2906988" cy="626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</a:t>
            </a:r>
            <a:endParaRPr sz="11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57420" y="1046430"/>
            <a:ext cx="8722572" cy="397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Development Phase (3 months)</a:t>
            </a:r>
          </a:p>
          <a:p>
            <a:pPr>
              <a:lnSpc>
                <a:spcPct val="120000"/>
              </a:lnSpc>
            </a:pPr>
            <a:endParaRPr lang="en-IN" sz="1200" b="1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AWS Services (Monthly):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 Transcribe: ~$500 (10,000 minutes/month)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 Polly: ~$200 (5M characters/month)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 Lex: ~$300 (10,000 requests/month)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RDS PostgreSQL (db.t3.medium): ~$150</a:t>
            </a:r>
          </a:p>
          <a:p>
            <a:pPr>
              <a:lnSpc>
                <a:spcPct val="120000"/>
              </a:lnSpc>
            </a:pPr>
            <a:r>
              <a:rPr lang="en-IN" sz="1200" dirty="0" err="1">
                <a:solidFill>
                  <a:srgbClr val="434343"/>
                </a:solidFill>
                <a:latin typeface="Manrope"/>
              </a:rPr>
              <a:t>ElastiCache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 Redis (cache.t3.small): ~$50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S3 Storage: ~$50 (voice recordings)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Lambda + CloudWatch: ~$100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Subtotal: ~$1,350/month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Development Costs: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Backend Development: 2 developers × 3 months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ML/AI Development: 1 specialist × 3 months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Testing &amp; QA: 1 engineer × 2 months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DevOps Setup: 1 engineer × 1 month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Total Development Phase: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~$1,350 × 3 = $4,050 (AWS only)</a:t>
            </a:r>
          </a:p>
          <a:p>
            <a:pPr>
              <a:lnSpc>
                <a:spcPct val="120000"/>
              </a:lnSpc>
            </a:pPr>
            <a:endParaRPr lang="en-IN" sz="1200" b="1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endParaRPr lang="en-IN" sz="1200" b="1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Production Phase (Per Month)</a:t>
            </a:r>
          </a:p>
          <a:p>
            <a:pPr>
              <a:lnSpc>
                <a:spcPct val="120000"/>
              </a:lnSpc>
            </a:pPr>
            <a:endParaRPr lang="en-IN" sz="1200" b="1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For 100 stores, 50 queries/store/day: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 Transcribe: ~$2,000 (40,000 minutes)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 Polly: ~$800 (20M characters)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AWS Lex: ~$1,200 (40,000 requests)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RDS (db.m5.large): ~$400</a:t>
            </a:r>
          </a:p>
          <a:p>
            <a:pPr>
              <a:lnSpc>
                <a:spcPct val="120000"/>
              </a:lnSpc>
            </a:pPr>
            <a:r>
              <a:rPr lang="en-IN" sz="1200" dirty="0" err="1">
                <a:solidFill>
                  <a:srgbClr val="434343"/>
                </a:solidFill>
                <a:latin typeface="Manrope"/>
              </a:rPr>
              <a:t>ElastiCache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 (cache.m5.large): ~$200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S3 + Data Transfer: ~$200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Lambda + CloudWatch: ~$300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Total: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~$5,100/month</a:t>
            </a: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Cost per Store: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~$51/month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ROI Calculation: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Time saved per manager: 2 hours/day × $15/hour = $30/day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434343"/>
                </a:solidFill>
                <a:latin typeface="Manrope"/>
              </a:rPr>
              <a:t>Reduced stockouts/overstock: ~$500/month per store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434343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Total benefit: 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~$1,400/month per store</a:t>
            </a: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434343"/>
                </a:solidFill>
                <a:latin typeface="Manrope"/>
              </a:rPr>
              <a:t>ROI:</a:t>
            </a:r>
            <a:r>
              <a:rPr lang="en-IN" sz="1200" dirty="0">
                <a:solidFill>
                  <a:srgbClr val="434343"/>
                </a:solidFill>
                <a:latin typeface="Manrope"/>
              </a:rPr>
              <a:t> 27x return on investment</a:t>
            </a:r>
          </a:p>
        </p:txBody>
      </p:sp>
      <p:sp>
        <p:nvSpPr>
          <p:cNvPr id="2" name="Google Shape;93;p19">
            <a:extLst>
              <a:ext uri="{FF2B5EF4-FFF2-40B4-BE49-F238E27FC236}">
                <a16:creationId xmlns:a16="http://schemas.microsoft.com/office/drawing/2014/main" id="{D03381E7-B3B2-60D1-A76D-933DD804820F}"/>
              </a:ext>
            </a:extLst>
          </p:cNvPr>
          <p:cNvSpPr txBox="1"/>
          <p:nvPr/>
        </p:nvSpPr>
        <p:spPr>
          <a:xfrm>
            <a:off x="357420" y="638964"/>
            <a:ext cx="2906988" cy="626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</a:t>
            </a:r>
            <a:endParaRPr sz="11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72694"/>
            <a:ext cx="8567124" cy="4010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202729"/>
                </a:solidFill>
                <a:latin typeface="Manrope"/>
              </a:rPr>
              <a:t>Primary Services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AWS Transcribe - Multilingual speech recognition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AWS Polly - Natural voice synthesis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AWS Lex - Intent recognition and NLU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202729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202729"/>
                </a:solidFill>
                <a:latin typeface="Manrope"/>
              </a:rPr>
              <a:t>Supporting Services 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Amazon RDS - Managed PostgreSQL database 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Amazon </a:t>
            </a:r>
            <a:r>
              <a:rPr lang="en-IN" sz="1200" dirty="0" err="1">
                <a:solidFill>
                  <a:srgbClr val="202729"/>
                </a:solidFill>
                <a:latin typeface="Manrope"/>
              </a:rPr>
              <a:t>ElastiCache</a:t>
            </a:r>
            <a:r>
              <a:rPr lang="en-IN" sz="1200" dirty="0">
                <a:solidFill>
                  <a:srgbClr val="202729"/>
                </a:solidFill>
                <a:latin typeface="Manrope"/>
              </a:rPr>
              <a:t> - Redis caching 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Amazon S3 - Voice recording storage 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AWS Lambda - Serverless background jobs 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Amazon CloudWatch - Monitoring and logging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202729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202729"/>
                </a:solidFill>
                <a:latin typeface="Manrope"/>
              </a:rPr>
              <a:t>Innovation for Bharat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Multilingual Support: Hindi, Tamil, Bengali + English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Voice-First Design: Perfect for India's diverse literacy levels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Retail Focus: Addresses critical pain points in Indian retail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Scalability: Built for enterprise retail chains across India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Accessibility: Removes technology barriers for regional managers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AA2CB-CC70-2BCE-E834-92DD97FAC579}"/>
              </a:ext>
            </a:extLst>
          </p:cNvPr>
          <p:cNvSpPr txBox="1"/>
          <p:nvPr/>
        </p:nvSpPr>
        <p:spPr>
          <a:xfrm>
            <a:off x="311700" y="555773"/>
            <a:ext cx="56593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202729"/>
                </a:solidFill>
                <a:latin typeface="Manrope"/>
              </a:rPr>
              <a:t>Hackathon Requirements - AWS AI Services Integration </a:t>
            </a:r>
          </a:p>
          <a:p>
            <a:pPr>
              <a:buNone/>
            </a:pPr>
            <a:endParaRPr lang="en-IN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2051F06-DC48-3B4B-DB98-EC6D2324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>
            <a:extLst>
              <a:ext uri="{FF2B5EF4-FFF2-40B4-BE49-F238E27FC236}">
                <a16:creationId xmlns:a16="http://schemas.microsoft.com/office/drawing/2014/main" id="{5BE006BB-378C-0CDC-118D-EC25D0B219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>
            <a:extLst>
              <a:ext uri="{FF2B5EF4-FFF2-40B4-BE49-F238E27FC236}">
                <a16:creationId xmlns:a16="http://schemas.microsoft.com/office/drawing/2014/main" id="{FBCB81BC-B732-D105-D04E-BE6356F930E3}"/>
              </a:ext>
            </a:extLst>
          </p:cNvPr>
          <p:cNvSpPr txBox="1"/>
          <p:nvPr/>
        </p:nvSpPr>
        <p:spPr>
          <a:xfrm>
            <a:off x="311700" y="954990"/>
            <a:ext cx="8567124" cy="4010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202729"/>
                </a:solidFill>
                <a:latin typeface="Manrope"/>
              </a:rPr>
              <a:t>Technical Excellence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Property-Based Testing: 31 formally verified correctness properties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Microservices Architecture: Scalable and maintainable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Real-time Performance: &lt;5 second response time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99.5% Uptime: Production-ready reliability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Security: JWT auth, RBAC, audit logging, encryption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202729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202729"/>
                </a:solidFill>
                <a:latin typeface="Manrope"/>
              </a:rPr>
              <a:t>Social Impact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Empowers Regional Workforce: Language inclusivity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Reduces Waste: Better inventory management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Increases Efficiency: 2+ hours saved daily per manager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Democratizes AI: Makes advanced analytics accessible to all</a:t>
            </a:r>
          </a:p>
          <a:p>
            <a:pPr>
              <a:lnSpc>
                <a:spcPct val="120000"/>
              </a:lnSpc>
            </a:pPr>
            <a:endParaRPr lang="en-IN" sz="1200" dirty="0">
              <a:solidFill>
                <a:srgbClr val="202729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202729"/>
                </a:solidFill>
                <a:latin typeface="Manrope"/>
              </a:rPr>
              <a:t>Implementation Readiness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Complete technical specification (requirements, design, tasks)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18 implementation tasks with clear dependencies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Comprehensive testing strategy (unit + property tests)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Docker-based deployment ready</a:t>
            </a: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§"/>
            </a:pPr>
            <a:r>
              <a:rPr lang="en-IN" sz="1200" dirty="0">
                <a:solidFill>
                  <a:srgbClr val="202729"/>
                </a:solidFill>
                <a:latin typeface="Manrope"/>
              </a:rPr>
              <a:t>GitHub repository: </a:t>
            </a:r>
            <a:r>
              <a:rPr lang="en-IN" sz="1200" dirty="0">
                <a:solidFill>
                  <a:srgbClr val="202729"/>
                </a:solidFill>
                <a:latin typeface="Manrop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https://github.com/agent-ashik/ai-retail-voice-copilot</a:t>
            </a:r>
            <a:endParaRPr lang="en-IN" sz="1200" dirty="0">
              <a:solidFill>
                <a:srgbClr val="202729"/>
              </a:solidFill>
              <a:latin typeface="Manrope"/>
            </a:endParaRPr>
          </a:p>
          <a:p>
            <a:pPr>
              <a:lnSpc>
                <a:spcPct val="120000"/>
              </a:lnSpc>
            </a:pPr>
            <a:endParaRPr lang="en-IN" sz="1200" b="1" dirty="0">
              <a:solidFill>
                <a:srgbClr val="202729"/>
              </a:solidFill>
              <a:latin typeface="Manro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D0586-ACFE-79DB-CA08-BADD6A25D846}"/>
              </a:ext>
            </a:extLst>
          </p:cNvPr>
          <p:cNvSpPr txBox="1"/>
          <p:nvPr/>
        </p:nvSpPr>
        <p:spPr>
          <a:xfrm>
            <a:off x="311700" y="555773"/>
            <a:ext cx="5659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202729"/>
                </a:solidFill>
                <a:latin typeface="Manrope"/>
              </a:rPr>
              <a:t>Hackathon Requirements - AWS AI Services Integration </a:t>
            </a:r>
          </a:p>
          <a:p>
            <a:pPr>
              <a:buNone/>
            </a:pP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736641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1337</Words>
  <Application>Microsoft Macintosh PowerPoint</Application>
  <PresentationFormat>On-screen Show (16:9)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Wingdings</vt:lpstr>
      <vt:lpstr>Manrope</vt:lpstr>
      <vt:lpstr>Manrope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Ashik</cp:lastModifiedBy>
  <cp:revision>12</cp:revision>
  <dcterms:modified xsi:type="dcterms:W3CDTF">2026-02-15T15:45:22Z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2026-02-15T09:43:45Z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c6cf9a8d-ad4a-4eda-b820-22201c94fa9f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50, 3, 0, 1</vt:lpwstr>
  </property>
</Properties>
</file>